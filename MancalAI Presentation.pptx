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alibri (MS) Bold" charset="1" panose="020F0702030404030204"/>
      <p:regular r:id="rId28"/>
    </p:embeddedFont>
    <p:embeddedFont>
      <p:font typeface="Codec Pro Bold" charset="1" panose="000006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png" Type="http://schemas.openxmlformats.org/officeDocument/2006/relationships/image"/><Relationship Id="rId15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6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png" Type="http://schemas.openxmlformats.org/officeDocument/2006/relationships/image"/><Relationship Id="rId16" Target="../media/image23.png" Type="http://schemas.openxmlformats.org/officeDocument/2006/relationships/image"/><Relationship Id="rId17" Target="../media/image24.png" Type="http://schemas.openxmlformats.org/officeDocument/2006/relationships/image"/><Relationship Id="rId18" Target="../media/image25.png" Type="http://schemas.openxmlformats.org/officeDocument/2006/relationships/image"/><Relationship Id="rId19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8.png" Type="http://schemas.openxmlformats.org/officeDocument/2006/relationships/image"/><Relationship Id="rId13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0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1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2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8.png" Type="http://schemas.openxmlformats.org/officeDocument/2006/relationships/image"/><Relationship Id="rId13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516897" y="7391260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428361" y="2835810"/>
            <a:ext cx="18716361" cy="216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4163"/>
              </a:lnSpc>
            </a:pPr>
            <a:r>
              <a:rPr lang="he-IL" b="true" sz="14163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פרויקט מנקלה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0383" y="5615552"/>
            <a:ext cx="16138872" cy="11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41"/>
              </a:lnSpc>
            </a:pPr>
            <a:r>
              <a:rPr lang="he-IL" b="true" sz="3941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מגישים: יעל אברמוביץ, נועה אברמוביץ, רואי נהרי ויקיר מזרחי</a:t>
            </a:r>
          </a:p>
          <a:p>
            <a:pPr algn="ctr" rtl="true">
              <a:lnSpc>
                <a:spcPts val="394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383752" y="4727673"/>
            <a:ext cx="7092135" cy="822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367"/>
              </a:lnSpc>
              <a:spcBef>
                <a:spcPct val="0"/>
              </a:spcBef>
            </a:pPr>
            <a:r>
              <a:rPr lang="he-IL" b="true" sz="53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קורס אלגוריתמים מתקדמים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467282" y="6392945"/>
            <a:ext cx="7008605" cy="2605271"/>
            <a:chOff x="0" y="0"/>
            <a:chExt cx="9344807" cy="3473695"/>
          </a:xfrm>
        </p:grpSpPr>
        <p:sp>
          <p:nvSpPr>
            <p:cNvPr name="Freeform 16" id="16"/>
            <p:cNvSpPr/>
            <p:nvPr/>
          </p:nvSpPr>
          <p:spPr>
            <a:xfrm flipH="false" flipV="false" rot="-10800000">
              <a:off x="3999856" y="133836"/>
              <a:ext cx="1354238" cy="3247258"/>
            </a:xfrm>
            <a:custGeom>
              <a:avLst/>
              <a:gdLst/>
              <a:ahLst/>
              <a:cxnLst/>
              <a:rect r="r" b="b" t="t" l="l"/>
              <a:pathLst>
                <a:path h="3247258" w="1354238">
                  <a:moveTo>
                    <a:pt x="0" y="0"/>
                  </a:moveTo>
                  <a:lnTo>
                    <a:pt x="1354237" y="0"/>
                  </a:lnTo>
                  <a:lnTo>
                    <a:pt x="1354237" y="3247258"/>
                  </a:lnTo>
                  <a:lnTo>
                    <a:pt x="0" y="3247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99856" cy="3473695"/>
            </a:xfrm>
            <a:custGeom>
              <a:avLst/>
              <a:gdLst/>
              <a:ahLst/>
              <a:cxnLst/>
              <a:rect r="r" b="b" t="t" l="l"/>
              <a:pathLst>
                <a:path h="3473695" w="3999856">
                  <a:moveTo>
                    <a:pt x="0" y="0"/>
                  </a:moveTo>
                  <a:lnTo>
                    <a:pt x="3999856" y="0"/>
                  </a:lnTo>
                  <a:lnTo>
                    <a:pt x="3999856" y="3473695"/>
                  </a:lnTo>
                  <a:lnTo>
                    <a:pt x="0" y="3473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00643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354093" y="0"/>
              <a:ext cx="3990714" cy="3473695"/>
            </a:xfrm>
            <a:custGeom>
              <a:avLst/>
              <a:gdLst/>
              <a:ahLst/>
              <a:cxnLst/>
              <a:rect r="r" b="b" t="t" l="l"/>
              <a:pathLst>
                <a:path h="3473695" w="3990714">
                  <a:moveTo>
                    <a:pt x="0" y="0"/>
                  </a:moveTo>
                  <a:lnTo>
                    <a:pt x="3990714" y="0"/>
                  </a:lnTo>
                  <a:lnTo>
                    <a:pt x="3990714" y="3473695"/>
                  </a:lnTo>
                  <a:lnTo>
                    <a:pt x="0" y="3473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99733" t="0" r="-1369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4753" y="2635187"/>
            <a:ext cx="16064547" cy="536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1079501" indent="-539750" lvl="1">
              <a:lnSpc>
                <a:spcPts val="7000"/>
              </a:lnSpc>
              <a:buFont typeface="Arial"/>
              <a:buChar char="•"/>
            </a:pPr>
            <a:r>
              <a:rPr lang="he-IL" b="true" sz="5000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הפרויקט עוסק במימוש אסטרטגי של משחק הלוח הקלאסי מנקלה בעזרת אלגוריתמים מתקדמים.</a:t>
            </a:r>
          </a:p>
          <a:p>
            <a:pPr algn="r" rtl="true" marL="1079501" indent="-539750" lvl="1">
              <a:lnSpc>
                <a:spcPts val="7000"/>
              </a:lnSpc>
              <a:buFont typeface="Arial"/>
              <a:buChar char="•"/>
            </a:pPr>
            <a:r>
              <a:rPr lang="he-IL" b="true" sz="5000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במהלך הפרויקט פיתחנו מערכת המדמה את המשחק, כולל תרחישים מורכבים ומצבים מיוחדים, ופיתחנו סוכן חכם שמבצע החלטות אופטימליות.</a:t>
            </a:r>
          </a:p>
          <a:p>
            <a:pPr algn="r" rtl="true">
              <a:lnSpc>
                <a:spcPts val="70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579544" y="1009650"/>
            <a:ext cx="10928979" cy="139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000"/>
              </a:lnSpc>
            </a:pPr>
            <a:r>
              <a:rPr lang="he-IL" b="true" sz="9000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פרויקט מנקלה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383881" y="7005558"/>
            <a:ext cx="3520238" cy="3605175"/>
          </a:xfrm>
          <a:custGeom>
            <a:avLst/>
            <a:gdLst/>
            <a:ahLst/>
            <a:cxnLst/>
            <a:rect r="r" b="b" t="t" l="l"/>
            <a:pathLst>
              <a:path h="3605175" w="3520238">
                <a:moveTo>
                  <a:pt x="0" y="0"/>
                </a:moveTo>
                <a:lnTo>
                  <a:pt x="3520238" y="0"/>
                </a:lnTo>
                <a:lnTo>
                  <a:pt x="3520238" y="3605174"/>
                </a:lnTo>
                <a:lnTo>
                  <a:pt x="0" y="36051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11157" t="-106182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2946" y="2635183"/>
            <a:ext cx="17412126" cy="536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1079501" indent="-539750" lvl="1">
              <a:lnSpc>
                <a:spcPts val="7000"/>
              </a:lnSpc>
              <a:buFont typeface="Arial"/>
              <a:buChar char="•"/>
            </a:pPr>
            <a:r>
              <a:rPr lang="he-IL" b="true" sz="5000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סימולציה מלאה של משחק מנקלה לשני שחקנים</a:t>
            </a:r>
          </a:p>
          <a:p>
            <a:pPr algn="r" rtl="true" marL="1079501" indent="-539750" lvl="1">
              <a:lnSpc>
                <a:spcPts val="7000"/>
              </a:lnSpc>
              <a:buFont typeface="Arial"/>
              <a:buChar char="•"/>
            </a:pPr>
            <a:r>
              <a:rPr lang="he-IL" b="true" sz="5000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 סוכן אסטרטגי המתמודד מול שחקן יריב</a:t>
            </a:r>
          </a:p>
          <a:p>
            <a:pPr algn="r" rtl="true" marL="1079501" indent="-539750" lvl="1">
              <a:lnSpc>
                <a:spcPts val="7000"/>
              </a:lnSpc>
              <a:buFont typeface="Arial"/>
              <a:buChar char="•"/>
            </a:pPr>
            <a:r>
              <a:rPr lang="he-IL" b="true" sz="5000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שילוב כללים מיוחדים שאינם קיימים בגרסה</a:t>
            </a:r>
            <a:r>
              <a:rPr lang="he-IL" b="true" sz="5000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 הקלאסית</a:t>
            </a:r>
          </a:p>
          <a:p>
            <a:pPr algn="r" rtl="true" marL="1079501" indent="-539750" lvl="1">
              <a:lnSpc>
                <a:spcPts val="7000"/>
              </a:lnSpc>
              <a:buFont typeface="Arial"/>
              <a:buChar char="•"/>
            </a:pPr>
            <a:r>
              <a:rPr lang="he-IL" b="true" sz="5000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מנוע חיפוש אלגוריתמי (</a:t>
            </a:r>
            <a:r>
              <a:rPr lang="en-US" b="true" sz="5000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Minimax</a:t>
            </a:r>
            <a:r>
              <a:rPr lang="ar-EG" b="true" sz="5000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)</a:t>
            </a:r>
          </a:p>
          <a:p>
            <a:pPr algn="r" rtl="true" marL="1079501" indent="-539750" lvl="1">
              <a:lnSpc>
                <a:spcPts val="7000"/>
              </a:lnSpc>
              <a:buFont typeface="Arial"/>
              <a:buChar char="•"/>
            </a:pPr>
            <a:r>
              <a:rPr lang="he-IL" b="true" sz="5000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הדמיה גרפית בסיסית להצגת מהלכי הסוכן</a:t>
            </a:r>
          </a:p>
          <a:p>
            <a:pPr algn="r" rtl="true">
              <a:lnSpc>
                <a:spcPts val="700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631259" y="6943483"/>
            <a:ext cx="5025481" cy="2983000"/>
          </a:xfrm>
          <a:custGeom>
            <a:avLst/>
            <a:gdLst/>
            <a:ahLst/>
            <a:cxnLst/>
            <a:rect r="r" b="b" t="t" l="l"/>
            <a:pathLst>
              <a:path h="2983000" w="5025481">
                <a:moveTo>
                  <a:pt x="0" y="0"/>
                </a:moveTo>
                <a:lnTo>
                  <a:pt x="5025482" y="0"/>
                </a:lnTo>
                <a:lnTo>
                  <a:pt x="5025482" y="2983000"/>
                </a:lnTo>
                <a:lnTo>
                  <a:pt x="0" y="2983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2611" r="-65231" b="-15575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79510" y="1009650"/>
            <a:ext cx="10928979" cy="139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000"/>
              </a:lnSpc>
            </a:pPr>
            <a:r>
              <a:rPr lang="he-IL" b="true" sz="9000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מה מימשנו בפרויקט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5349591"/>
            <a:ext cx="5334170" cy="5334170"/>
          </a:xfrm>
          <a:custGeom>
            <a:avLst/>
            <a:gdLst/>
            <a:ahLst/>
            <a:cxnLst/>
            <a:rect r="r" b="b" t="t" l="l"/>
            <a:pathLst>
              <a:path h="5334170" w="5334170">
                <a:moveTo>
                  <a:pt x="0" y="0"/>
                </a:moveTo>
                <a:lnTo>
                  <a:pt x="5334170" y="0"/>
                </a:lnTo>
                <a:lnTo>
                  <a:pt x="5334170" y="5334170"/>
                </a:lnTo>
                <a:lnTo>
                  <a:pt x="0" y="53341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44585" y="2396381"/>
            <a:ext cx="16114715" cy="531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1066844" indent="-533422" lvl="1">
              <a:lnSpc>
                <a:spcPts val="6917"/>
              </a:lnSpc>
              <a:buFont typeface="Arial"/>
              <a:buChar char="•"/>
            </a:pP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שני שחקנים, כל אחד עם שורת גומות</a:t>
            </a:r>
          </a:p>
          <a:p>
            <a:pPr algn="r" rtl="true" marL="1066844" indent="-533422" lvl="1">
              <a:lnSpc>
                <a:spcPts val="6917"/>
              </a:lnSpc>
              <a:buFont typeface="Arial"/>
              <a:buChar char="•"/>
            </a:pP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כל תור: פיזור אבנים מהגומה בכיוון השעון</a:t>
            </a:r>
          </a:p>
          <a:p>
            <a:pPr algn="r" rtl="true" marL="1066844" indent="-533422" lvl="1">
              <a:lnSpc>
                <a:spcPts val="6917"/>
              </a:lnSpc>
              <a:buFont typeface="Arial"/>
              <a:buChar char="•"/>
            </a:pP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תור נוסף: אם האבן האחרונה נופלת</a:t>
            </a: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 בבור שלך</a:t>
            </a:r>
          </a:p>
          <a:p>
            <a:pPr algn="r" rtl="true" marL="1066844" indent="-533422" lvl="1">
              <a:lnSpc>
                <a:spcPts val="6917"/>
              </a:lnSpc>
              <a:buFont typeface="Arial"/>
              <a:buChar char="•"/>
            </a:pP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לכידת אבנים מהיריב בתנאים מסוימים</a:t>
            </a:r>
          </a:p>
          <a:p>
            <a:pPr algn="r" rtl="true" marL="1066844" indent="-533422" lvl="1">
              <a:lnSpc>
                <a:spcPts val="6917"/>
              </a:lnSpc>
              <a:buFont typeface="Arial"/>
              <a:buChar char="•"/>
            </a:pP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מטרה: לאסוף הכי הרבה אבנים בבור האישי</a:t>
            </a:r>
          </a:p>
          <a:p>
            <a:pPr algn="r" rtl="true">
              <a:lnSpc>
                <a:spcPts val="691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59800" y="1009650"/>
            <a:ext cx="14768401" cy="139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000"/>
              </a:lnSpc>
            </a:pPr>
            <a:r>
              <a:rPr lang="he-IL" b="true" sz="9000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כללי המשחק הקלאסיים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48115" y="2838204"/>
            <a:ext cx="14980085" cy="333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699"/>
              </a:lnSpc>
            </a:pPr>
            <a:r>
              <a:rPr lang="en-US" b="true" sz="5699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</a:t>
            </a:r>
            <a:r>
              <a:rPr lang="he-IL" b="true" sz="5699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. איזון כפוי:</a:t>
            </a:r>
          </a:p>
          <a:p>
            <a:pPr algn="r" rtl="true">
              <a:lnSpc>
                <a:spcPts val="5000"/>
              </a:lnSpc>
            </a:pPr>
            <a:r>
              <a:rPr lang="he-IL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לאחר מהלך, אם מתגלה שבקופה של שחקן יש בדיוק אותן מספר אבנים כמו בגומה הקרובה לקופה על השחקן להעביר אבן אחת מהקופה לגומה הקרובה </a:t>
            </a:r>
          </a:p>
          <a:p>
            <a:pPr algn="r" rtl="true">
              <a:lnSpc>
                <a:spcPts val="500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59800" y="1009650"/>
            <a:ext cx="14768401" cy="139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000"/>
              </a:lnSpc>
            </a:pPr>
            <a:r>
              <a:rPr lang="he-IL" b="true" sz="9000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סיבוכים וחידושים במשחק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437435" y="5739424"/>
            <a:ext cx="9413130" cy="3940055"/>
            <a:chOff x="0" y="0"/>
            <a:chExt cx="12550840" cy="52534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50840" cy="5253406"/>
            </a:xfrm>
            <a:custGeom>
              <a:avLst/>
              <a:gdLst/>
              <a:ahLst/>
              <a:cxnLst/>
              <a:rect r="r" b="b" t="t" l="l"/>
              <a:pathLst>
                <a:path h="5253406" w="12550840">
                  <a:moveTo>
                    <a:pt x="0" y="0"/>
                  </a:moveTo>
                  <a:lnTo>
                    <a:pt x="12550840" y="0"/>
                  </a:lnTo>
                  <a:lnTo>
                    <a:pt x="12550840" y="5253406"/>
                  </a:lnTo>
                  <a:lnTo>
                    <a:pt x="0" y="5253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2240" r="0" b="-106667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10800000">
              <a:off x="5416608" y="2595421"/>
              <a:ext cx="1961601" cy="2081003"/>
            </a:xfrm>
            <a:custGeom>
              <a:avLst/>
              <a:gdLst/>
              <a:ahLst/>
              <a:cxnLst/>
              <a:rect r="r" b="b" t="t" l="l"/>
              <a:pathLst>
                <a:path h="2081003" w="1961601">
                  <a:moveTo>
                    <a:pt x="0" y="0"/>
                  </a:moveTo>
                  <a:lnTo>
                    <a:pt x="1961601" y="0"/>
                  </a:lnTo>
                  <a:lnTo>
                    <a:pt x="1961601" y="2081003"/>
                  </a:lnTo>
                  <a:lnTo>
                    <a:pt x="0" y="2081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58013" t="-207892" r="-481812" b="-295222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684878" y="3305519"/>
              <a:ext cx="1000737" cy="1038210"/>
            </a:xfrm>
            <a:custGeom>
              <a:avLst/>
              <a:gdLst/>
              <a:ahLst/>
              <a:cxnLst/>
              <a:rect r="r" b="b" t="t" l="l"/>
              <a:pathLst>
                <a:path h="1038210" w="1000737">
                  <a:moveTo>
                    <a:pt x="0" y="0"/>
                  </a:moveTo>
                  <a:lnTo>
                    <a:pt x="1000737" y="0"/>
                  </a:lnTo>
                  <a:lnTo>
                    <a:pt x="1000737" y="1038210"/>
                  </a:lnTo>
                  <a:lnTo>
                    <a:pt x="0" y="1038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467673" t="-483584" r="-686486" b="-625308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685615" y="3739549"/>
              <a:ext cx="680836" cy="531318"/>
            </a:xfrm>
            <a:custGeom>
              <a:avLst/>
              <a:gdLst/>
              <a:ahLst/>
              <a:cxnLst/>
              <a:rect r="r" b="b" t="t" l="l"/>
              <a:pathLst>
                <a:path h="531318" w="680836">
                  <a:moveTo>
                    <a:pt x="0" y="0"/>
                  </a:moveTo>
                  <a:lnTo>
                    <a:pt x="680836" y="0"/>
                  </a:lnTo>
                  <a:lnTo>
                    <a:pt x="680836" y="531318"/>
                  </a:lnTo>
                  <a:lnTo>
                    <a:pt x="0" y="531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1289" t="-22520" r="-7562" b="-9569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275420" y="3956289"/>
              <a:ext cx="611330" cy="489457"/>
            </a:xfrm>
            <a:custGeom>
              <a:avLst/>
              <a:gdLst/>
              <a:ahLst/>
              <a:cxnLst/>
              <a:rect r="r" b="b" t="t" l="l"/>
              <a:pathLst>
                <a:path h="489457" w="611330">
                  <a:moveTo>
                    <a:pt x="0" y="0"/>
                  </a:moveTo>
                  <a:lnTo>
                    <a:pt x="611330" y="0"/>
                  </a:lnTo>
                  <a:lnTo>
                    <a:pt x="611330" y="489457"/>
                  </a:lnTo>
                  <a:lnTo>
                    <a:pt x="0" y="489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3807" t="-17529" r="-10064" b="-9417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915067" y="2951865"/>
              <a:ext cx="1053304" cy="735616"/>
            </a:xfrm>
            <a:custGeom>
              <a:avLst/>
              <a:gdLst/>
              <a:ahLst/>
              <a:cxnLst/>
              <a:rect r="r" b="b" t="t" l="l"/>
              <a:pathLst>
                <a:path h="735616" w="1053304">
                  <a:moveTo>
                    <a:pt x="0" y="0"/>
                  </a:moveTo>
                  <a:lnTo>
                    <a:pt x="1053304" y="0"/>
                  </a:lnTo>
                  <a:lnTo>
                    <a:pt x="1053304" y="735616"/>
                  </a:lnTo>
                  <a:lnTo>
                    <a:pt x="0" y="735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4504" r="-2632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0441719" y="3405501"/>
              <a:ext cx="421028" cy="460843"/>
            </a:xfrm>
            <a:custGeom>
              <a:avLst/>
              <a:gdLst/>
              <a:ahLst/>
              <a:cxnLst/>
              <a:rect r="r" b="b" t="t" l="l"/>
              <a:pathLst>
                <a:path h="460843" w="421028">
                  <a:moveTo>
                    <a:pt x="0" y="0"/>
                  </a:moveTo>
                  <a:lnTo>
                    <a:pt x="421028" y="0"/>
                  </a:lnTo>
                  <a:lnTo>
                    <a:pt x="421028" y="460843"/>
                  </a:lnTo>
                  <a:lnTo>
                    <a:pt x="0" y="460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41903" r="-175066" b="-71005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0138935" y="3278707"/>
              <a:ext cx="421028" cy="460843"/>
            </a:xfrm>
            <a:custGeom>
              <a:avLst/>
              <a:gdLst/>
              <a:ahLst/>
              <a:cxnLst/>
              <a:rect r="r" b="b" t="t" l="l"/>
              <a:pathLst>
                <a:path h="460843" w="421028">
                  <a:moveTo>
                    <a:pt x="0" y="0"/>
                  </a:moveTo>
                  <a:lnTo>
                    <a:pt x="421028" y="0"/>
                  </a:lnTo>
                  <a:lnTo>
                    <a:pt x="421028" y="460842"/>
                  </a:lnTo>
                  <a:lnTo>
                    <a:pt x="0" y="460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41903" r="-175066" b="-71005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59800" y="2650924"/>
            <a:ext cx="14768401" cy="5220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731"/>
              </a:lnSpc>
            </a:pPr>
            <a:r>
              <a:rPr lang="en-US" b="true" sz="573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</a:t>
            </a:r>
            <a:r>
              <a:rPr lang="he-IL" b="true" sz="573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. חסימה:</a:t>
            </a:r>
          </a:p>
          <a:p>
            <a:pPr algn="r" rtl="true">
              <a:lnSpc>
                <a:spcPts val="5000"/>
              </a:lnSpc>
            </a:pPr>
            <a:r>
              <a:rPr lang="he-IL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לאחר סיום התור לכל שחקן יש אפשרות חד פעמית במהלך המשחק לבצע חסימה לגומה מסוימת של היריב. </a:t>
            </a:r>
          </a:p>
          <a:p>
            <a:pPr algn="r" rtl="true">
              <a:lnSpc>
                <a:spcPts val="5000"/>
              </a:lnSpc>
            </a:pPr>
            <a:r>
              <a:rPr lang="he-IL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לאחר הפעלת החסימה, הגומה שנבחרה נחסמת וכך היריב לא יוכל לבחור להתחיל ממנה בתור הבא שלו בלבד.</a:t>
            </a:r>
          </a:p>
          <a:p>
            <a:pPr algn="r" rtl="true">
              <a:lnSpc>
                <a:spcPts val="4831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000551" y="7253089"/>
            <a:ext cx="9145171" cy="2528380"/>
            <a:chOff x="0" y="0"/>
            <a:chExt cx="12193561" cy="3371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3561" cy="2755709"/>
            </a:xfrm>
            <a:custGeom>
              <a:avLst/>
              <a:gdLst/>
              <a:ahLst/>
              <a:cxnLst/>
              <a:rect r="r" b="b" t="t" l="l"/>
              <a:pathLst>
                <a:path h="2755709" w="12193561">
                  <a:moveTo>
                    <a:pt x="0" y="0"/>
                  </a:moveTo>
                  <a:lnTo>
                    <a:pt x="12193561" y="0"/>
                  </a:lnTo>
                  <a:lnTo>
                    <a:pt x="12193561" y="2755709"/>
                  </a:lnTo>
                  <a:lnTo>
                    <a:pt x="0" y="2755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429" t="-145975" r="0" b="-198408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411165" y="0"/>
              <a:ext cx="1545250" cy="312909"/>
            </a:xfrm>
            <a:custGeom>
              <a:avLst/>
              <a:gdLst/>
              <a:ahLst/>
              <a:cxnLst/>
              <a:rect r="r" b="b" t="t" l="l"/>
              <a:pathLst>
                <a:path h="312909" w="1545250">
                  <a:moveTo>
                    <a:pt x="0" y="0"/>
                  </a:moveTo>
                  <a:lnTo>
                    <a:pt x="1545250" y="0"/>
                  </a:lnTo>
                  <a:lnTo>
                    <a:pt x="1545250" y="312909"/>
                  </a:lnTo>
                  <a:lnTo>
                    <a:pt x="0" y="312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59611" t="-784422" r="-92299" b="-381424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994992" y="312909"/>
              <a:ext cx="4080974" cy="1988292"/>
            </a:xfrm>
            <a:custGeom>
              <a:avLst/>
              <a:gdLst/>
              <a:ahLst/>
              <a:cxnLst/>
              <a:rect r="r" b="b" t="t" l="l"/>
              <a:pathLst>
                <a:path h="1988292" w="4080974">
                  <a:moveTo>
                    <a:pt x="0" y="0"/>
                  </a:moveTo>
                  <a:lnTo>
                    <a:pt x="4080975" y="0"/>
                  </a:lnTo>
                  <a:lnTo>
                    <a:pt x="4080975" y="1988293"/>
                  </a:lnTo>
                  <a:lnTo>
                    <a:pt x="0" y="1988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7633" t="0" r="-7633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84477" y="156455"/>
              <a:ext cx="2041665" cy="2072737"/>
            </a:xfrm>
            <a:custGeom>
              <a:avLst/>
              <a:gdLst/>
              <a:ahLst/>
              <a:cxnLst/>
              <a:rect r="r" b="b" t="t" l="l"/>
              <a:pathLst>
                <a:path h="2072737" w="2041665">
                  <a:moveTo>
                    <a:pt x="0" y="0"/>
                  </a:moveTo>
                  <a:lnTo>
                    <a:pt x="2041665" y="0"/>
                  </a:lnTo>
                  <a:lnTo>
                    <a:pt x="2041665" y="2072737"/>
                  </a:lnTo>
                  <a:lnTo>
                    <a:pt x="0" y="207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23" r="0" b="-22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126142" y="156455"/>
              <a:ext cx="2059273" cy="2099970"/>
            </a:xfrm>
            <a:custGeom>
              <a:avLst/>
              <a:gdLst/>
              <a:ahLst/>
              <a:cxnLst/>
              <a:rect r="r" b="b" t="t" l="l"/>
              <a:pathLst>
                <a:path h="2099970" w="2059273">
                  <a:moveTo>
                    <a:pt x="0" y="0"/>
                  </a:moveTo>
                  <a:lnTo>
                    <a:pt x="2059273" y="0"/>
                  </a:lnTo>
                  <a:lnTo>
                    <a:pt x="2059273" y="2099970"/>
                  </a:lnTo>
                  <a:lnTo>
                    <a:pt x="0" y="209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699895">
              <a:off x="3706499" y="857965"/>
              <a:ext cx="788524" cy="642483"/>
            </a:xfrm>
            <a:custGeom>
              <a:avLst/>
              <a:gdLst/>
              <a:ahLst/>
              <a:cxnLst/>
              <a:rect r="r" b="b" t="t" l="l"/>
              <a:pathLst>
                <a:path h="642483" w="788524">
                  <a:moveTo>
                    <a:pt x="0" y="0"/>
                  </a:moveTo>
                  <a:lnTo>
                    <a:pt x="788524" y="0"/>
                  </a:lnTo>
                  <a:lnTo>
                    <a:pt x="788524" y="642483"/>
                  </a:lnTo>
                  <a:lnTo>
                    <a:pt x="0" y="642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6290" t="-9819" r="-9605" b="-5576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85533" y="1931732"/>
              <a:ext cx="1537548" cy="1281586"/>
            </a:xfrm>
            <a:custGeom>
              <a:avLst/>
              <a:gdLst/>
              <a:ahLst/>
              <a:cxnLst/>
              <a:rect r="r" b="b" t="t" l="l"/>
              <a:pathLst>
                <a:path h="1281586" w="1537548">
                  <a:moveTo>
                    <a:pt x="0" y="0"/>
                  </a:moveTo>
                  <a:lnTo>
                    <a:pt x="1537548" y="0"/>
                  </a:lnTo>
                  <a:lnTo>
                    <a:pt x="1537548" y="1281586"/>
                  </a:lnTo>
                  <a:lnTo>
                    <a:pt x="0" y="1281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9972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222479" y="3055463"/>
              <a:ext cx="600602" cy="315710"/>
            </a:xfrm>
            <a:custGeom>
              <a:avLst/>
              <a:gdLst/>
              <a:ahLst/>
              <a:cxnLst/>
              <a:rect r="r" b="b" t="t" l="l"/>
              <a:pathLst>
                <a:path h="315710" w="600602">
                  <a:moveTo>
                    <a:pt x="0" y="0"/>
                  </a:moveTo>
                  <a:lnTo>
                    <a:pt x="600602" y="0"/>
                  </a:lnTo>
                  <a:lnTo>
                    <a:pt x="600602" y="315710"/>
                  </a:lnTo>
                  <a:lnTo>
                    <a:pt x="0" y="315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-14077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144585" y="6185650"/>
            <a:ext cx="4101350" cy="4101350"/>
          </a:xfrm>
          <a:custGeom>
            <a:avLst/>
            <a:gdLst/>
            <a:ahLst/>
            <a:cxnLst/>
            <a:rect r="r" b="b" t="t" l="l"/>
            <a:pathLst>
              <a:path h="4101350" w="4101350">
                <a:moveTo>
                  <a:pt x="0" y="0"/>
                </a:moveTo>
                <a:lnTo>
                  <a:pt x="4101349" y="0"/>
                </a:lnTo>
                <a:lnTo>
                  <a:pt x="4101349" y="4101350"/>
                </a:lnTo>
                <a:lnTo>
                  <a:pt x="0" y="41013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59800" y="1049692"/>
            <a:ext cx="14768401" cy="1390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000"/>
              </a:lnSpc>
            </a:pPr>
            <a:r>
              <a:rPr lang="he-IL" b="true" sz="9000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סיבוכים וחידושים במשחק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9828" y="1009650"/>
            <a:ext cx="17808344" cy="139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066"/>
              </a:lnSpc>
            </a:pPr>
            <a:r>
              <a:rPr lang="he-IL" b="true" sz="9066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האלגוריתמים בהם השתמשנו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4585" y="2372522"/>
            <a:ext cx="16383426" cy="4436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6917"/>
              </a:lnSpc>
            </a:pP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מימשנו שני סוכנים חכמים:</a:t>
            </a:r>
          </a:p>
          <a:p>
            <a:pPr algn="r" rtl="true" marL="1066844" indent="-533422" lvl="1">
              <a:lnSpc>
                <a:spcPts val="6917"/>
              </a:lnSpc>
              <a:buAutoNum type="arabicPeriod" startAt="1"/>
            </a:pPr>
            <a:r>
              <a:rPr lang="en-US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Minimax</a:t>
            </a: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 – מבצע חיפוש עומק אסטרטגי על עץ המשחק.</a:t>
            </a:r>
          </a:p>
          <a:p>
            <a:pPr algn="r" rtl="true" marL="1066844" indent="-533422" lvl="1">
              <a:lnSpc>
                <a:spcPts val="6917"/>
              </a:lnSpc>
              <a:buAutoNum type="arabicPeriod" startAt="1"/>
            </a:pPr>
            <a:r>
              <a:rPr lang="en-US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Iterative Deepening</a:t>
            </a: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 – מבצע חיפוש הדרגתי לעומקים שונים עד שמגיע לקצה הזמן או המשאבים.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104760"/>
            <a:ext cx="15960722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999"/>
              </a:lnSpc>
              <a:spcBef>
                <a:spcPct val="0"/>
              </a:spcBef>
            </a:pPr>
            <a:r>
              <a:rPr lang="he-IL" b="true" sz="4999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כל אחד מהסוכנים</a:t>
            </a:r>
            <a:r>
              <a:rPr lang="he-IL" b="true" sz="4999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 יכול לשמש כיריב חכם במשחק אוטומטי או הדמיה.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018735"/>
            <a:ext cx="16195266" cy="224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999"/>
              </a:lnSpc>
            </a:pPr>
            <a:r>
              <a:rPr lang="he-IL" b="true" sz="7999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פונקציית הערכה בסיסית - </a:t>
            </a:r>
            <a:r>
              <a:rPr lang="en-US" b="true" sz="7999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BASIC_EVALUATION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8115" y="3352351"/>
            <a:ext cx="16126110" cy="531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1066844" indent="-533422" lvl="1">
              <a:lnSpc>
                <a:spcPts val="6917"/>
              </a:lnSpc>
              <a:buFont typeface="Arial"/>
              <a:buChar char="•"/>
            </a:pP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פונקציה פשוטה שנותנת ציון לפי:</a:t>
            </a:r>
          </a:p>
          <a:p>
            <a:pPr algn="r" rtl="true" marL="1066844" indent="-533422" lvl="1">
              <a:lnSpc>
                <a:spcPts val="6917"/>
              </a:lnSpc>
              <a:buFont typeface="Arial"/>
              <a:buChar char="•"/>
            </a:pP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הפרש האבנים במחסנים (משקל כפול </a:t>
            </a:r>
            <a:r>
              <a:rPr lang="en-US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</a:t>
            </a:r>
            <a:r>
              <a:rPr lang="ar-EG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).</a:t>
            </a:r>
          </a:p>
          <a:p>
            <a:pPr algn="r" rtl="true" marL="1066844" indent="-533422" lvl="1">
              <a:lnSpc>
                <a:spcPts val="6917"/>
              </a:lnSpc>
              <a:buFont typeface="Arial"/>
              <a:buChar char="•"/>
            </a:pP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הפרש האבנים בגומות (משקל כפול </a:t>
            </a:r>
            <a:r>
              <a:rPr lang="en-US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0.5</a:t>
            </a:r>
            <a:r>
              <a:rPr lang="ar-EG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).</a:t>
            </a:r>
          </a:p>
          <a:p>
            <a:pPr algn="r" rtl="true" marL="1066844" indent="-533422" lvl="1">
              <a:lnSpc>
                <a:spcPts val="6917"/>
              </a:lnSpc>
              <a:buFont typeface="Arial"/>
              <a:buChar char="•"/>
            </a:pP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נועדה לשקף יתרון כללי של השחקן בלוח.</a:t>
            </a:r>
          </a:p>
          <a:p>
            <a:pPr algn="r" rtl="true" marL="1066844" indent="-533422" lvl="1">
              <a:lnSpc>
                <a:spcPts val="6917"/>
              </a:lnSpc>
              <a:buFont typeface="Arial"/>
              <a:buChar char="•"/>
            </a:pPr>
            <a:r>
              <a:rPr lang="he-IL" b="true" sz="494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נוסחה כללית:</a:t>
            </a:r>
          </a:p>
          <a:p>
            <a:pPr algn="r" rtl="true">
              <a:lnSpc>
                <a:spcPts val="691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945729" y="7934095"/>
            <a:ext cx="1222214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  <a:spcBef>
                <a:spcPct val="0"/>
              </a:spcBef>
            </a:pPr>
            <a:r>
              <a:rPr lang="en-US" b="true" sz="4800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</a:t>
            </a:r>
            <a:r>
              <a:rPr lang="en-US" b="true" sz="4800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ORE = SCORE_DIFF * 2.0 + STONES_DIFF * 0.5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12632" y="3636586"/>
            <a:ext cx="4628608" cy="898759"/>
          </a:xfrm>
          <a:custGeom>
            <a:avLst/>
            <a:gdLst/>
            <a:ahLst/>
            <a:cxnLst/>
            <a:rect r="r" b="b" t="t" l="l"/>
            <a:pathLst>
              <a:path h="898759" w="4628608">
                <a:moveTo>
                  <a:pt x="0" y="0"/>
                </a:moveTo>
                <a:lnTo>
                  <a:pt x="4628608" y="0"/>
                </a:lnTo>
                <a:lnTo>
                  <a:pt x="4628608" y="898759"/>
                </a:lnTo>
                <a:lnTo>
                  <a:pt x="0" y="8987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9512" t="-740615" r="-114493" b="-313018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31757">
            <a:off x="1529081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4" y="0"/>
                </a:lnTo>
                <a:lnTo>
                  <a:pt x="3346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93619" y="1009650"/>
            <a:ext cx="15965681" cy="224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999"/>
              </a:lnSpc>
            </a:pPr>
            <a:r>
              <a:rPr lang="he-IL" b="true" sz="7999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פונקציית הערכה מתקדמת – </a:t>
            </a:r>
            <a:r>
              <a:rPr lang="en-US" b="true" sz="7999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ADVANCED_EVALUATION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051035"/>
            <a:ext cx="15960722" cy="536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1079501" indent="-539750" lvl="1">
              <a:lnSpc>
                <a:spcPts val="7000"/>
              </a:lnSpc>
              <a:buFont typeface="Arial"/>
              <a:buChar char="•"/>
            </a:pPr>
            <a:r>
              <a:rPr lang="he-IL" b="true" sz="5000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פונקציה עשירה שמשקללת טקטיקות מורכבות:</a:t>
            </a:r>
          </a:p>
          <a:p>
            <a:pPr algn="r" rtl="true">
              <a:lnSpc>
                <a:spcPts val="7000"/>
              </a:lnSpc>
            </a:pPr>
            <a:r>
              <a:rPr lang="en-US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</a:t>
            </a:r>
            <a:r>
              <a:rPr lang="ar-EG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. </a:t>
            </a:r>
            <a:r>
              <a:rPr lang="he-IL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מיקום האבנים – קרובות </a:t>
            </a:r>
            <a:r>
              <a:rPr lang="he-IL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למחסן = טובות יותר.</a:t>
            </a:r>
          </a:p>
          <a:p>
            <a:pPr algn="r" rtl="true">
              <a:lnSpc>
                <a:spcPts val="7000"/>
              </a:lnSpc>
            </a:pPr>
            <a:r>
              <a:rPr lang="en-US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</a:t>
            </a:r>
            <a:r>
              <a:rPr lang="ar-EG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. </a:t>
            </a:r>
            <a:r>
              <a:rPr lang="he-IL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הזדמנות לגנוב – גומות ריקות מול גומות יריב עם              </a:t>
            </a:r>
          </a:p>
          <a:p>
            <a:pPr algn="r" rtl="true">
              <a:lnSpc>
                <a:spcPts val="7000"/>
              </a:lnSpc>
            </a:pPr>
            <a:r>
              <a:rPr lang="he-IL" b="true" sz="5000" spc="110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אבנים</a:t>
            </a:r>
          </a:p>
          <a:p>
            <a:pPr algn="r" rtl="true">
              <a:lnSpc>
                <a:spcPts val="7000"/>
              </a:lnSpc>
            </a:pPr>
            <a:r>
              <a:rPr lang="en-US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3</a:t>
            </a:r>
            <a:r>
              <a:rPr lang="ar-EG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. </a:t>
            </a:r>
            <a:r>
              <a:rPr lang="he-IL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פגיעות לגניבה – ענישה אם אפשר לגנוב ממך.</a:t>
            </a:r>
          </a:p>
          <a:p>
            <a:pPr algn="r" rtl="true">
              <a:lnSpc>
                <a:spcPts val="7000"/>
              </a:lnSpc>
            </a:pPr>
            <a:r>
              <a:rPr lang="en-US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4</a:t>
            </a:r>
            <a:r>
              <a:rPr lang="ar-EG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. </a:t>
            </a:r>
            <a:r>
              <a:rPr lang="he-IL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תור נוסף – בונוס אם מהלך מסתיים במחסן.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23378" y="4774352"/>
            <a:ext cx="3101665" cy="2825103"/>
          </a:xfrm>
          <a:custGeom>
            <a:avLst/>
            <a:gdLst/>
            <a:ahLst/>
            <a:cxnLst/>
            <a:rect r="r" b="b" t="t" l="l"/>
            <a:pathLst>
              <a:path h="2825103" w="3101665">
                <a:moveTo>
                  <a:pt x="0" y="0"/>
                </a:moveTo>
                <a:lnTo>
                  <a:pt x="3101665" y="0"/>
                </a:lnTo>
                <a:lnTo>
                  <a:pt x="3101665" y="2825103"/>
                </a:lnTo>
                <a:lnTo>
                  <a:pt x="0" y="28251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94513" b="-113555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31757">
            <a:off x="1492989" y="8612839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4" y="0"/>
                </a:lnTo>
                <a:lnTo>
                  <a:pt x="3346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80945" y="941424"/>
            <a:ext cx="15965681" cy="224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999"/>
              </a:lnSpc>
            </a:pPr>
            <a:r>
              <a:rPr lang="he-IL" b="true" sz="7999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פונקציית הערכה מתקדמת – </a:t>
            </a:r>
            <a:r>
              <a:rPr lang="en-US" b="true" sz="7999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ADVANCED_EVALUATION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23852" y="3254375"/>
            <a:ext cx="14765570" cy="359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000"/>
              </a:lnSpc>
            </a:pPr>
            <a:r>
              <a:rPr lang="en-US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5</a:t>
            </a:r>
            <a:r>
              <a:rPr lang="he-IL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. גומות ריקות – ניקוד קטן.</a:t>
            </a:r>
          </a:p>
          <a:p>
            <a:pPr algn="r" rtl="true">
              <a:lnSpc>
                <a:spcPts val="7000"/>
              </a:lnSpc>
            </a:pPr>
            <a:r>
              <a:rPr lang="en-US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6</a:t>
            </a:r>
            <a:r>
              <a:rPr lang="he-IL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. חוק העונשין – ענישה על התאמה מסוימת בגומות.</a:t>
            </a:r>
          </a:p>
          <a:p>
            <a:pPr algn="r" rtl="true">
              <a:lnSpc>
                <a:spcPts val="7000"/>
              </a:lnSpc>
            </a:pPr>
            <a:r>
              <a:rPr lang="en-US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7</a:t>
            </a:r>
            <a:r>
              <a:rPr lang="he-IL" sz="5000" b="true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. חוק החסימה – בונוס על חסימת יריב.</a:t>
            </a:r>
          </a:p>
          <a:p>
            <a:pPr algn="r" rtl="true">
              <a:lnSpc>
                <a:spcPts val="70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223852" y="6413423"/>
            <a:ext cx="14822774" cy="139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1092448" indent="-546224" lvl="1">
              <a:lnSpc>
                <a:spcPts val="5059"/>
              </a:lnSpc>
              <a:buFont typeface="Arial"/>
              <a:buChar char="•"/>
            </a:pPr>
            <a:r>
              <a:rPr lang="he-IL" b="true" sz="5059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משקלים שונים</a:t>
            </a:r>
            <a:r>
              <a:rPr lang="he-IL" b="true" sz="5059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 לכל מרכיב יוצרים ציון סופי מחושב היטב.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48115" y="6097666"/>
            <a:ext cx="3309769" cy="3422210"/>
          </a:xfrm>
          <a:custGeom>
            <a:avLst/>
            <a:gdLst/>
            <a:ahLst/>
            <a:cxnLst/>
            <a:rect r="r" b="b" t="t" l="l"/>
            <a:pathLst>
              <a:path h="3422210" w="3309769">
                <a:moveTo>
                  <a:pt x="0" y="0"/>
                </a:moveTo>
                <a:lnTo>
                  <a:pt x="3309769" y="0"/>
                </a:lnTo>
                <a:lnTo>
                  <a:pt x="3309769" y="3422210"/>
                </a:lnTo>
                <a:lnTo>
                  <a:pt x="0" y="34222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6661" t="-3695" r="0" b="-12519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31757">
            <a:off x="1386206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4" y="0"/>
                </a:lnTo>
                <a:lnTo>
                  <a:pt x="3346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201558"/>
            <a:ext cx="15960722" cy="137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966"/>
              </a:lnSpc>
              <a:spcBef>
                <a:spcPct val="0"/>
              </a:spcBef>
            </a:pPr>
            <a:r>
              <a:rPr lang="he-IL" b="true" sz="8966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שפת התכנות שנבחרה – </a:t>
            </a:r>
            <a:r>
              <a:rPr lang="en-US" b="true" sz="8966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4580" y="3036260"/>
            <a:ext cx="16094720" cy="484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3"/>
              </a:lnSpc>
            </a:pPr>
            <a:r>
              <a:rPr lang="he-IL" b="true" sz="5043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בחרנו</a:t>
            </a:r>
            <a:r>
              <a:rPr lang="he-IL" b="true" sz="5043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 לממש את הפרויקט בשפת </a:t>
            </a:r>
            <a:r>
              <a:rPr lang="en-US" b="true" sz="5043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PYTHON</a:t>
            </a:r>
            <a:r>
              <a:rPr lang="ar-EG" b="true" sz="5043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.</a:t>
            </a:r>
          </a:p>
          <a:p>
            <a:pPr algn="just" rtl="true">
              <a:lnSpc>
                <a:spcPts val="5043"/>
              </a:lnSpc>
            </a:pPr>
            <a:r>
              <a:rPr lang="he-IL" b="true" sz="5043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הסיבות לכך:</a:t>
            </a:r>
          </a:p>
          <a:p>
            <a:pPr algn="just" rtl="true" marL="1088836" indent="-544418" lvl="1">
              <a:lnSpc>
                <a:spcPts val="7060"/>
              </a:lnSpc>
              <a:buFont typeface="Arial"/>
              <a:buChar char="•"/>
            </a:pPr>
            <a:r>
              <a:rPr lang="he-IL" b="true" sz="5043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היכרות אישית של חברי הצוות עם השפה.</a:t>
            </a:r>
          </a:p>
          <a:p>
            <a:pPr algn="just" rtl="true" marL="1088836" indent="-544418" lvl="1">
              <a:lnSpc>
                <a:spcPts val="7060"/>
              </a:lnSpc>
              <a:buFont typeface="Arial"/>
              <a:buChar char="•"/>
            </a:pPr>
            <a:r>
              <a:rPr lang="he-IL" b="true" sz="5043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קהילת מפתחים רחבה ותיעוד נוח.</a:t>
            </a:r>
          </a:p>
          <a:p>
            <a:pPr algn="just" rtl="true" marL="1088836" indent="-544418" lvl="1">
              <a:lnSpc>
                <a:spcPts val="7060"/>
              </a:lnSpc>
              <a:buFont typeface="Arial"/>
              <a:buChar char="•"/>
            </a:pPr>
            <a:r>
              <a:rPr lang="he-IL" b="true" sz="5043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שפע של ספריות בתחום אלגוריתמים, </a:t>
            </a:r>
            <a:r>
              <a:rPr lang="en-US" b="true" sz="5043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GUI</a:t>
            </a:r>
            <a:r>
              <a:rPr lang="he-IL" b="true" sz="5043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 וסימולציות.</a:t>
            </a:r>
          </a:p>
          <a:p>
            <a:pPr algn="just" rtl="true" marL="1088836" indent="-544418" lvl="1">
              <a:lnSpc>
                <a:spcPts val="7060"/>
              </a:lnSpc>
              <a:buFont typeface="Arial"/>
              <a:buChar char="•"/>
            </a:pPr>
            <a:r>
              <a:rPr lang="he-IL" b="true" sz="5043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מאפשרת פיתוח מהיר והרצה נוחה.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50872" y="1009650"/>
            <a:ext cx="13524467" cy="139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066"/>
              </a:lnSpc>
            </a:pPr>
            <a:r>
              <a:rPr lang="he-IL" b="true" sz="9066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אתגרים מרכזיים בפרויקט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0230" y="2240072"/>
            <a:ext cx="16433649" cy="637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967660" indent="-483830" lvl="1">
              <a:lnSpc>
                <a:spcPts val="6274"/>
              </a:lnSpc>
              <a:buFont typeface="Arial"/>
              <a:buChar char="•"/>
            </a:pPr>
            <a:r>
              <a:rPr lang="he-IL" b="true" sz="448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פיתוח פונקציית ההערכה היה אתגר נוסף, בעיקר מבחינת בחירת המשקלים לכל שיקול – מצריך איזון בין תוקפנות, הגנה, תחזית והסתברות.</a:t>
            </a:r>
          </a:p>
          <a:p>
            <a:pPr algn="r" rtl="true" marL="967660" indent="-483830" lvl="1">
              <a:lnSpc>
                <a:spcPts val="6274"/>
              </a:lnSpc>
              <a:buFont typeface="Arial"/>
              <a:buChar char="•"/>
            </a:pPr>
            <a:r>
              <a:rPr lang="he-IL" b="true" sz="448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התהליך כלל ניסוי וטעייה עד שהגענו לביצועים טובים.</a:t>
            </a:r>
          </a:p>
          <a:p>
            <a:pPr algn="r" rtl="true" marL="967660" indent="-483830" lvl="1">
              <a:lnSpc>
                <a:spcPts val="6274"/>
              </a:lnSpc>
              <a:buFont typeface="Arial"/>
              <a:buChar char="•"/>
            </a:pPr>
            <a:r>
              <a:rPr lang="he-IL" b="true" sz="448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פיתוח פונקציית ההערכה היה אתגר נוסף, בעיקר מבחינת בחירת המשקלים לכל שיקול – מצריך איזון בין תוקפנות, הגנה, תחזית והסתברות.</a:t>
            </a:r>
          </a:p>
          <a:p>
            <a:pPr algn="r" rtl="true" marL="967660" indent="-483830" lvl="1">
              <a:lnSpc>
                <a:spcPts val="6274"/>
              </a:lnSpc>
              <a:buFont typeface="Arial"/>
              <a:buChar char="•"/>
            </a:pPr>
            <a:r>
              <a:rPr lang="he-IL" b="true" sz="4481">
                <a:solidFill>
                  <a:srgbClr val="74A8CF"/>
                </a:solidFill>
                <a:latin typeface="Codec Pro Bold"/>
                <a:ea typeface="Codec Pro Bold"/>
                <a:cs typeface="Codec Pro Bold"/>
                <a:sym typeface="Codec Pro Bold"/>
                <a:rtl val="true"/>
              </a:rPr>
              <a:t>התהליך כלל ניסוי וטעייה עד שהגענו לביצועים טובים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1513" y="2070177"/>
            <a:ext cx="15867802" cy="724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1096041" indent="-548021" lvl="1">
              <a:lnSpc>
                <a:spcPts val="7107"/>
              </a:lnSpc>
              <a:buFont typeface="Arial"/>
              <a:buChar char="•"/>
            </a:pPr>
            <a:r>
              <a:rPr lang="he-IL" b="true" sz="5076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בתכנון המקורי תכננו להשתמש אך ורק באלגוריתם </a:t>
            </a:r>
            <a:r>
              <a:rPr lang="en-US" b="true" sz="5076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Minimax</a:t>
            </a:r>
            <a:r>
              <a:rPr lang="ar-EG" b="true" sz="5076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.</a:t>
            </a:r>
          </a:p>
          <a:p>
            <a:pPr algn="r" rtl="true" marL="1096041" indent="-548021" lvl="1">
              <a:lnSpc>
                <a:spcPts val="7107"/>
              </a:lnSpc>
              <a:buFont typeface="Arial"/>
              <a:buChar char="•"/>
            </a:pPr>
            <a:r>
              <a:rPr lang="he-IL" b="true" sz="5076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במהלך הפיתוח הבנו שהאלגוריתם דורש משאבים רבים ולכן החלטנו לשלב גם </a:t>
            </a:r>
            <a:r>
              <a:rPr lang="en-US" b="true" sz="5076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Iterative Deepening</a:t>
            </a:r>
            <a:r>
              <a:rPr lang="he-IL" b="true" sz="5076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כאופציה יעילה וגמישה יותר.</a:t>
            </a:r>
          </a:p>
          <a:p>
            <a:pPr algn="r" rtl="true" marL="1096041" indent="-548021" lvl="1">
              <a:lnSpc>
                <a:spcPts val="7107"/>
              </a:lnSpc>
              <a:buFont typeface="Arial"/>
              <a:buChar char="•"/>
            </a:pPr>
            <a:r>
              <a:rPr lang="he-IL" b="true" sz="5076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בתחילה פונקציית ההערכה הייתה מאוד בסיסית – אך במהלך הבדיקות הוספנו פונקציית הערכה מתקדמת עם שיקולים טקטיים.</a:t>
            </a:r>
          </a:p>
          <a:p>
            <a:pPr algn="r" rtl="true">
              <a:lnSpc>
                <a:spcPts val="7107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720266" y="7506437"/>
            <a:ext cx="4290297" cy="2220859"/>
          </a:xfrm>
          <a:custGeom>
            <a:avLst/>
            <a:gdLst/>
            <a:ahLst/>
            <a:cxnLst/>
            <a:rect r="r" b="b" t="t" l="l"/>
            <a:pathLst>
              <a:path h="2220859" w="4290297">
                <a:moveTo>
                  <a:pt x="0" y="0"/>
                </a:moveTo>
                <a:lnTo>
                  <a:pt x="4290297" y="0"/>
                </a:lnTo>
                <a:lnTo>
                  <a:pt x="4290297" y="2220860"/>
                </a:lnTo>
                <a:lnTo>
                  <a:pt x="0" y="222086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5859" t="-134434" r="-14429" b="-1725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752764" y="1009650"/>
            <a:ext cx="12782472" cy="139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066"/>
              </a:lnSpc>
            </a:pPr>
            <a:r>
              <a:rPr lang="he-IL" b="true" sz="9066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שינויים מההצעה המקורית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15607" y="2289191"/>
            <a:ext cx="15043693" cy="628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1079501" indent="-539750" lvl="1">
              <a:lnSpc>
                <a:spcPts val="7000"/>
              </a:lnSpc>
              <a:buFont typeface="Arial"/>
              <a:buChar char="•"/>
            </a:pPr>
            <a:r>
              <a:rPr lang="he-IL" b="true" sz="5000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חלק מהחוקים המיוחדים במשחק, כמו "איזון כפוי" ו"חוק החסימה", נוספו רק לאחר שהבנו שהם מוסיפים עניין ואתגר אסטרטגי.</a:t>
            </a:r>
          </a:p>
          <a:p>
            <a:pPr algn="r" rtl="true" marL="1079501" indent="-539750" lvl="1">
              <a:lnSpc>
                <a:spcPts val="7000"/>
              </a:lnSpc>
              <a:buFont typeface="Arial"/>
              <a:buChar char="•"/>
            </a:pPr>
            <a:r>
              <a:rPr lang="he-IL" b="true" sz="5000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שינינו את עומק החיפוש והפרמטרים בדינמיקה של הסוכן, לאחר ניסויים שהראו ביצועים איטיים מדי או החלטות לא אופטימליות.</a:t>
            </a:r>
          </a:p>
          <a:p>
            <a:pPr algn="r" rtl="true">
              <a:lnSpc>
                <a:spcPts val="70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752764" y="1009650"/>
            <a:ext cx="12782472" cy="139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066"/>
              </a:lnSpc>
            </a:pPr>
            <a:r>
              <a:rPr lang="he-IL" b="true" sz="9066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שינויים מההצעה המקורית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7068702" y="7176455"/>
            <a:ext cx="2869325" cy="2598634"/>
          </a:xfrm>
          <a:custGeom>
            <a:avLst/>
            <a:gdLst/>
            <a:ahLst/>
            <a:cxnLst/>
            <a:rect r="r" b="b" t="t" l="l"/>
            <a:pathLst>
              <a:path h="2598634" w="2869325">
                <a:moveTo>
                  <a:pt x="0" y="0"/>
                </a:moveTo>
                <a:lnTo>
                  <a:pt x="2869325" y="0"/>
                </a:lnTo>
                <a:lnTo>
                  <a:pt x="2869325" y="2598634"/>
                </a:lnTo>
                <a:lnTo>
                  <a:pt x="0" y="25986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0237" t="-122651" r="-111311" b="-21975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55846" y="1028700"/>
            <a:ext cx="3048895" cy="2839182"/>
          </a:xfrm>
          <a:custGeom>
            <a:avLst/>
            <a:gdLst/>
            <a:ahLst/>
            <a:cxnLst/>
            <a:rect r="r" b="b" t="t" l="l"/>
            <a:pathLst>
              <a:path h="2839182" w="3048895">
                <a:moveTo>
                  <a:pt x="0" y="0"/>
                </a:moveTo>
                <a:lnTo>
                  <a:pt x="3048895" y="0"/>
                </a:lnTo>
                <a:lnTo>
                  <a:pt x="3048895" y="2839182"/>
                </a:lnTo>
                <a:lnTo>
                  <a:pt x="0" y="28391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761039">
            <a:off x="8022484" y="7968941"/>
            <a:ext cx="4628608" cy="902038"/>
          </a:xfrm>
          <a:custGeom>
            <a:avLst/>
            <a:gdLst/>
            <a:ahLst/>
            <a:cxnLst/>
            <a:rect r="r" b="b" t="t" l="l"/>
            <a:pathLst>
              <a:path h="902038" w="4628608">
                <a:moveTo>
                  <a:pt x="0" y="0"/>
                </a:moveTo>
                <a:lnTo>
                  <a:pt x="4628608" y="0"/>
                </a:lnTo>
                <a:lnTo>
                  <a:pt x="4628608" y="902038"/>
                </a:lnTo>
                <a:lnTo>
                  <a:pt x="0" y="9020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9512" t="-737922" r="-114493" b="-31151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932284">
            <a:off x="14963936" y="4565842"/>
            <a:ext cx="2502755" cy="1155315"/>
          </a:xfrm>
          <a:custGeom>
            <a:avLst/>
            <a:gdLst/>
            <a:ahLst/>
            <a:cxnLst/>
            <a:rect r="r" b="b" t="t" l="l"/>
            <a:pathLst>
              <a:path h="1155315" w="2502755">
                <a:moveTo>
                  <a:pt x="0" y="0"/>
                </a:moveTo>
                <a:lnTo>
                  <a:pt x="2502755" y="0"/>
                </a:lnTo>
                <a:lnTo>
                  <a:pt x="2502755" y="1155316"/>
                </a:lnTo>
                <a:lnTo>
                  <a:pt x="0" y="11553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1304" t="-714648" r="-331069" b="-16532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3871801">
            <a:off x="2513228" y="6795313"/>
            <a:ext cx="2455122" cy="1093458"/>
          </a:xfrm>
          <a:custGeom>
            <a:avLst/>
            <a:gdLst/>
            <a:ahLst/>
            <a:cxnLst/>
            <a:rect r="r" b="b" t="t" l="l"/>
            <a:pathLst>
              <a:path h="1093458" w="2455122">
                <a:moveTo>
                  <a:pt x="0" y="0"/>
                </a:moveTo>
                <a:lnTo>
                  <a:pt x="2455122" y="0"/>
                </a:lnTo>
                <a:lnTo>
                  <a:pt x="2455122" y="1093457"/>
                </a:lnTo>
                <a:lnTo>
                  <a:pt x="0" y="10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14864" t="-723758" r="-227216" b="-16883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19298" y="4037367"/>
            <a:ext cx="12782472" cy="191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2465"/>
              </a:lnSpc>
            </a:pPr>
            <a:r>
              <a:rPr lang="he-IL" b="true" sz="12465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הדגמת המחשק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838309" y="535483"/>
            <a:ext cx="2669240" cy="2431235"/>
          </a:xfrm>
          <a:custGeom>
            <a:avLst/>
            <a:gdLst/>
            <a:ahLst/>
            <a:cxnLst/>
            <a:rect r="r" b="b" t="t" l="l"/>
            <a:pathLst>
              <a:path h="2431235" w="2669240">
                <a:moveTo>
                  <a:pt x="0" y="0"/>
                </a:moveTo>
                <a:lnTo>
                  <a:pt x="2669240" y="0"/>
                </a:lnTo>
                <a:lnTo>
                  <a:pt x="2669240" y="2431235"/>
                </a:lnTo>
                <a:lnTo>
                  <a:pt x="0" y="243123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94513" b="-113555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295314" y="2254449"/>
            <a:ext cx="11312349" cy="7003851"/>
          </a:xfrm>
          <a:custGeom>
            <a:avLst/>
            <a:gdLst/>
            <a:ahLst/>
            <a:cxnLst/>
            <a:rect r="r" b="b" t="t" l="l"/>
            <a:pathLst>
              <a:path h="7003851" w="11312349">
                <a:moveTo>
                  <a:pt x="0" y="0"/>
                </a:moveTo>
                <a:lnTo>
                  <a:pt x="11312349" y="0"/>
                </a:lnTo>
                <a:lnTo>
                  <a:pt x="11312349" y="7003851"/>
                </a:lnTo>
                <a:lnTo>
                  <a:pt x="0" y="70038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039" r="-69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60253" y="862102"/>
            <a:ext cx="12782472" cy="139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066"/>
              </a:lnSpc>
            </a:pPr>
            <a:r>
              <a:rPr lang="he-IL" b="true" sz="9066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מסך הפתיחה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54198" y="2195416"/>
            <a:ext cx="10779604" cy="6807240"/>
          </a:xfrm>
          <a:custGeom>
            <a:avLst/>
            <a:gdLst/>
            <a:ahLst/>
            <a:cxnLst/>
            <a:rect r="r" b="b" t="t" l="l"/>
            <a:pathLst>
              <a:path h="6807240" w="10779604">
                <a:moveTo>
                  <a:pt x="0" y="0"/>
                </a:moveTo>
                <a:lnTo>
                  <a:pt x="10779604" y="0"/>
                </a:lnTo>
                <a:lnTo>
                  <a:pt x="10779604" y="6807240"/>
                </a:lnTo>
                <a:lnTo>
                  <a:pt x="0" y="68072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4445" r="-13980" b="-2317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52764" y="803069"/>
            <a:ext cx="12782472" cy="139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066"/>
              </a:lnSpc>
            </a:pPr>
            <a:r>
              <a:rPr lang="he-IL" b="true" sz="9066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מהלך שמזכה בעוד תור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502064" y="-2584594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38362" y="2620275"/>
            <a:ext cx="10811276" cy="6719853"/>
          </a:xfrm>
          <a:custGeom>
            <a:avLst/>
            <a:gdLst/>
            <a:ahLst/>
            <a:cxnLst/>
            <a:rect r="r" b="b" t="t" l="l"/>
            <a:pathLst>
              <a:path h="6719853" w="10811276">
                <a:moveTo>
                  <a:pt x="0" y="0"/>
                </a:moveTo>
                <a:lnTo>
                  <a:pt x="10811276" y="0"/>
                </a:lnTo>
                <a:lnTo>
                  <a:pt x="10811276" y="6719853"/>
                </a:lnTo>
                <a:lnTo>
                  <a:pt x="0" y="67198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608" t="-6130" r="-10302" b="-15133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45729" y="618953"/>
            <a:ext cx="14390651" cy="200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467"/>
              </a:lnSpc>
            </a:pPr>
            <a:r>
              <a:rPr lang="he-IL" b="true" sz="74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איזון כפוי- לפני ביצוע מהלך שיכריח איזון</a:t>
            </a:r>
          </a:p>
          <a:p>
            <a:pPr algn="ctr" rtl="true">
              <a:lnSpc>
                <a:spcPts val="6867"/>
              </a:lnSpc>
            </a:pPr>
            <a:r>
              <a:rPr lang="he-IL" b="true" sz="68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(פיזור אבן אחת מבור </a:t>
            </a:r>
            <a:r>
              <a:rPr lang="en-US" b="true" sz="68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  <a:r>
              <a:rPr lang="he-IL" b="true" sz="68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לבור </a:t>
            </a:r>
            <a:r>
              <a:rPr lang="en-US" b="true" sz="68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  <a:r>
              <a:rPr lang="ar-EG" b="true" sz="68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77874" y="4072716"/>
            <a:ext cx="2647230" cy="1488612"/>
            <a:chOff x="0" y="0"/>
            <a:chExt cx="697213" cy="3920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7213" cy="392062"/>
            </a:xfrm>
            <a:custGeom>
              <a:avLst/>
              <a:gdLst/>
              <a:ahLst/>
              <a:cxnLst/>
              <a:rect r="r" b="b" t="t" l="l"/>
              <a:pathLst>
                <a:path h="392062" w="697213">
                  <a:moveTo>
                    <a:pt x="87736" y="0"/>
                  </a:moveTo>
                  <a:lnTo>
                    <a:pt x="609477" y="0"/>
                  </a:lnTo>
                  <a:cubicBezTo>
                    <a:pt x="657932" y="0"/>
                    <a:pt x="697213" y="39281"/>
                    <a:pt x="697213" y="87736"/>
                  </a:cubicBezTo>
                  <a:lnTo>
                    <a:pt x="697213" y="304326"/>
                  </a:lnTo>
                  <a:cubicBezTo>
                    <a:pt x="697213" y="327595"/>
                    <a:pt x="687969" y="349911"/>
                    <a:pt x="671515" y="366365"/>
                  </a:cubicBezTo>
                  <a:cubicBezTo>
                    <a:pt x="655062" y="382819"/>
                    <a:pt x="632746" y="392062"/>
                    <a:pt x="609477" y="392062"/>
                  </a:cubicBezTo>
                  <a:lnTo>
                    <a:pt x="87736" y="392062"/>
                  </a:lnTo>
                  <a:cubicBezTo>
                    <a:pt x="64467" y="392062"/>
                    <a:pt x="42151" y="382819"/>
                    <a:pt x="25697" y="366365"/>
                  </a:cubicBezTo>
                  <a:cubicBezTo>
                    <a:pt x="9244" y="349911"/>
                    <a:pt x="0" y="327595"/>
                    <a:pt x="0" y="304326"/>
                  </a:cubicBezTo>
                  <a:lnTo>
                    <a:pt x="0" y="87736"/>
                  </a:lnTo>
                  <a:cubicBezTo>
                    <a:pt x="0" y="64467"/>
                    <a:pt x="9244" y="42151"/>
                    <a:pt x="25697" y="25697"/>
                  </a:cubicBezTo>
                  <a:cubicBezTo>
                    <a:pt x="42151" y="9244"/>
                    <a:pt x="64467" y="0"/>
                    <a:pt x="877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rnd">
              <a:solidFill>
                <a:srgbClr val="C3D8F7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97213" cy="430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0620125" y="5297179"/>
            <a:ext cx="1278546" cy="0"/>
          </a:xfrm>
          <a:prstGeom prst="line">
            <a:avLst/>
          </a:prstGeom>
          <a:ln cap="flat" w="114300">
            <a:solidFill>
              <a:srgbClr val="597EAA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85279" y="2641785"/>
            <a:ext cx="10650511" cy="6844869"/>
          </a:xfrm>
          <a:custGeom>
            <a:avLst/>
            <a:gdLst/>
            <a:ahLst/>
            <a:cxnLst/>
            <a:rect r="r" b="b" t="t" l="l"/>
            <a:pathLst>
              <a:path h="6844869" w="10650511">
                <a:moveTo>
                  <a:pt x="0" y="0"/>
                </a:moveTo>
                <a:lnTo>
                  <a:pt x="10650511" y="0"/>
                </a:lnTo>
                <a:lnTo>
                  <a:pt x="10650511" y="6844869"/>
                </a:lnTo>
                <a:lnTo>
                  <a:pt x="0" y="68448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310" t="-5581" r="-14059" b="-2264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91954" y="865641"/>
            <a:ext cx="15924784" cy="191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867"/>
              </a:lnSpc>
            </a:pPr>
            <a:r>
              <a:rPr lang="he-IL" b="true" sz="68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אחרי- נלקחה אבן מ-</a:t>
            </a:r>
            <a:r>
              <a:rPr lang="en-US" b="true" sz="68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  <a:r>
              <a:rPr lang="he-IL" b="true" sz="68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האבנים שהיו בבית לבור הקרוב ביותר ומעבר ממצב של </a:t>
            </a:r>
            <a:r>
              <a:rPr lang="en-US" b="true" sz="68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4-4</a:t>
            </a:r>
            <a:r>
              <a:rPr lang="he-IL" b="true" sz="68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למצב של </a:t>
            </a:r>
            <a:r>
              <a:rPr lang="en-US" b="true" sz="6867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5-3</a:t>
            </a:r>
          </a:p>
        </p:txBody>
      </p:sp>
      <p:sp>
        <p:nvSpPr>
          <p:cNvPr name="AutoShape 14" id="14"/>
          <p:cNvSpPr/>
          <p:nvPr/>
        </p:nvSpPr>
        <p:spPr>
          <a:xfrm flipH="true">
            <a:off x="12349556" y="4318424"/>
            <a:ext cx="1096893" cy="739550"/>
          </a:xfrm>
          <a:prstGeom prst="line">
            <a:avLst/>
          </a:prstGeom>
          <a:ln cap="flat" w="104775">
            <a:solidFill>
              <a:srgbClr val="4E74A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03679" y="2279727"/>
            <a:ext cx="10880642" cy="6819557"/>
          </a:xfrm>
          <a:custGeom>
            <a:avLst/>
            <a:gdLst/>
            <a:ahLst/>
            <a:cxnLst/>
            <a:rect r="r" b="b" t="t" l="l"/>
            <a:pathLst>
              <a:path h="6819557" w="10880642">
                <a:moveTo>
                  <a:pt x="0" y="0"/>
                </a:moveTo>
                <a:lnTo>
                  <a:pt x="10880642" y="0"/>
                </a:lnTo>
                <a:lnTo>
                  <a:pt x="10880642" y="6819557"/>
                </a:lnTo>
                <a:lnTo>
                  <a:pt x="0" y="681955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831" t="-6061" r="-17034" b="-1692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52764" y="803069"/>
            <a:ext cx="12782472" cy="139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066"/>
              </a:lnSpc>
            </a:pPr>
            <a:r>
              <a:rPr lang="he-IL" b="true" sz="9066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חסימה של ה-</a:t>
            </a:r>
            <a:r>
              <a:rPr lang="en-US" b="true" sz="9066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75017" y="909077"/>
            <a:ext cx="9137966" cy="1563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0199"/>
              </a:lnSpc>
            </a:pPr>
            <a:r>
              <a:rPr lang="he-IL" b="true" sz="10199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סיכום הפרויקט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2595" y="2108277"/>
            <a:ext cx="16718446" cy="796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961692" indent="-480846" lvl="1">
              <a:lnSpc>
                <a:spcPts val="6236"/>
              </a:lnSpc>
              <a:spcBef>
                <a:spcPct val="0"/>
              </a:spcBef>
              <a:buFont typeface="Arial"/>
              <a:buChar char="•"/>
            </a:pPr>
            <a:r>
              <a:rPr lang="he-IL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הפרויקט</a:t>
            </a:r>
            <a:r>
              <a:rPr lang="he-IL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אפשר לנו ליישם עקרונות מתקדמים מאלגוריתמים של חיפוש ותורת המשחקים במערכת אסטרטגית פעילה.</a:t>
            </a:r>
          </a:p>
          <a:p>
            <a:pPr algn="r" rtl="true" marL="961692" indent="-480846" lvl="1">
              <a:lnSpc>
                <a:spcPts val="6236"/>
              </a:lnSpc>
              <a:spcBef>
                <a:spcPct val="0"/>
              </a:spcBef>
              <a:buFont typeface="Arial"/>
              <a:buChar char="•"/>
            </a:pPr>
            <a:r>
              <a:rPr lang="ar-EG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</a:t>
            </a:r>
            <a:r>
              <a:rPr lang="he-IL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למדנו כיצד לפתח סוכן חכם שפועל בסביבה עם חוקים מורכבים ודינמיים.</a:t>
            </a:r>
          </a:p>
          <a:p>
            <a:pPr algn="r" rtl="true" marL="961692" indent="-480846" lvl="1">
              <a:lnSpc>
                <a:spcPts val="6236"/>
              </a:lnSpc>
              <a:spcBef>
                <a:spcPct val="0"/>
              </a:spcBef>
              <a:buFont typeface="Arial"/>
              <a:buChar char="•"/>
            </a:pPr>
            <a:r>
              <a:rPr lang="ar-EG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</a:t>
            </a:r>
            <a:r>
              <a:rPr lang="he-IL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שילבנו </a:t>
            </a:r>
            <a:r>
              <a:rPr lang="en-US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Minimax</a:t>
            </a:r>
            <a:r>
              <a:rPr lang="he-IL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עם </a:t>
            </a:r>
            <a:r>
              <a:rPr lang="en-US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Iterative Deepening</a:t>
            </a:r>
            <a:r>
              <a:rPr lang="he-IL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תוך שימוש בפונקציות הערכה מותאמות.</a:t>
            </a:r>
          </a:p>
          <a:p>
            <a:pPr algn="r" rtl="true" marL="961692" indent="-480846" lvl="1">
              <a:lnSpc>
                <a:spcPts val="6236"/>
              </a:lnSpc>
              <a:spcBef>
                <a:spcPct val="0"/>
              </a:spcBef>
              <a:buFont typeface="Arial"/>
              <a:buChar char="•"/>
            </a:pPr>
            <a:r>
              <a:rPr lang="he-IL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בניית פונקציית </a:t>
            </a:r>
            <a:r>
              <a:rPr lang="en-US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Utility</a:t>
            </a:r>
            <a:r>
              <a:rPr lang="he-IL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 מתקדמת הדגישה את הצורך באיזון בין תוקפנות, הגנה ותחזית.</a:t>
            </a:r>
          </a:p>
          <a:p>
            <a:pPr algn="r" rtl="true" marL="961692" indent="-480846" lvl="1">
              <a:lnSpc>
                <a:spcPts val="6236"/>
              </a:lnSpc>
              <a:spcBef>
                <a:spcPct val="0"/>
              </a:spcBef>
              <a:buFont typeface="Arial"/>
              <a:buChar char="•"/>
            </a:pPr>
            <a:r>
              <a:rPr lang="he-IL" b="true" sz="4454">
                <a:solidFill>
                  <a:srgbClr val="74A8C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המשחק הממוחשב הוא לא רק סימולציה, אלא מערכת המסוגלת לנתח, לבחור, ולבצע מהלכים ברמה אסטרטגית גבוהה.</a:t>
            </a:r>
          </a:p>
          <a:p>
            <a:pPr algn="r" rtl="true">
              <a:lnSpc>
                <a:spcPts val="623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946858" y="-183507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8" y="0"/>
                </a:lnTo>
                <a:lnTo>
                  <a:pt x="41425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174652">
            <a:off x="16636322" y="1628887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868242">
            <a:off x="13484509" y="-239149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61225">
            <a:off x="-54272" y="-2754869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3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3" y="5457044"/>
                </a:lnTo>
                <a:lnTo>
                  <a:pt x="32047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1588287" y="800454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68317" y="7869083"/>
            <a:ext cx="4142528" cy="4114800"/>
          </a:xfrm>
          <a:custGeom>
            <a:avLst/>
            <a:gdLst/>
            <a:ahLst/>
            <a:cxnLst/>
            <a:rect r="r" b="b" t="t" l="l"/>
            <a:pathLst>
              <a:path h="4114800" w="4142528">
                <a:moveTo>
                  <a:pt x="0" y="0"/>
                </a:moveTo>
                <a:lnTo>
                  <a:pt x="4142527" y="0"/>
                </a:lnTo>
                <a:lnTo>
                  <a:pt x="41425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3625347">
            <a:off x="-1584747" y="5844260"/>
            <a:ext cx="3169494" cy="2675663"/>
          </a:xfrm>
          <a:custGeom>
            <a:avLst/>
            <a:gdLst/>
            <a:ahLst/>
            <a:cxnLst/>
            <a:rect r="r" b="b" t="t" l="l"/>
            <a:pathLst>
              <a:path h="2675663" w="3169494">
                <a:moveTo>
                  <a:pt x="3169494" y="2675663"/>
                </a:moveTo>
                <a:lnTo>
                  <a:pt x="0" y="2675663"/>
                </a:lnTo>
                <a:lnTo>
                  <a:pt x="0" y="0"/>
                </a:lnTo>
                <a:lnTo>
                  <a:pt x="3169494" y="0"/>
                </a:lnTo>
                <a:lnTo>
                  <a:pt x="3169494" y="26756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31757">
            <a:off x="1389685" y="8425501"/>
            <a:ext cx="3346875" cy="4114800"/>
          </a:xfrm>
          <a:custGeom>
            <a:avLst/>
            <a:gdLst/>
            <a:ahLst/>
            <a:cxnLst/>
            <a:rect r="r" b="b" t="t" l="l"/>
            <a:pathLst>
              <a:path h="4114800" w="3346875">
                <a:moveTo>
                  <a:pt x="0" y="0"/>
                </a:moveTo>
                <a:lnTo>
                  <a:pt x="3346875" y="0"/>
                </a:lnTo>
                <a:lnTo>
                  <a:pt x="3346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338774">
            <a:off x="14983505" y="7342162"/>
            <a:ext cx="3204773" cy="5457044"/>
          </a:xfrm>
          <a:custGeom>
            <a:avLst/>
            <a:gdLst/>
            <a:ahLst/>
            <a:cxnLst/>
            <a:rect r="r" b="b" t="t" l="l"/>
            <a:pathLst>
              <a:path h="5457044" w="3204773">
                <a:moveTo>
                  <a:pt x="3204774" y="0"/>
                </a:moveTo>
                <a:lnTo>
                  <a:pt x="0" y="0"/>
                </a:lnTo>
                <a:lnTo>
                  <a:pt x="0" y="5457044"/>
                </a:lnTo>
                <a:lnTo>
                  <a:pt x="3204774" y="5457044"/>
                </a:lnTo>
                <a:lnTo>
                  <a:pt x="32047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6313951" y="7186483"/>
            <a:ext cx="3408343" cy="2057400"/>
          </a:xfrm>
          <a:custGeom>
            <a:avLst/>
            <a:gdLst/>
            <a:ahLst/>
            <a:cxnLst/>
            <a:rect r="r" b="b" t="t" l="l"/>
            <a:pathLst>
              <a:path h="2057400" w="3408343">
                <a:moveTo>
                  <a:pt x="0" y="0"/>
                </a:moveTo>
                <a:lnTo>
                  <a:pt x="3408343" y="0"/>
                </a:lnTo>
                <a:lnTo>
                  <a:pt x="340834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55846" y="1028700"/>
            <a:ext cx="3048895" cy="2839182"/>
          </a:xfrm>
          <a:custGeom>
            <a:avLst/>
            <a:gdLst/>
            <a:ahLst/>
            <a:cxnLst/>
            <a:rect r="r" b="b" t="t" l="l"/>
            <a:pathLst>
              <a:path h="2839182" w="3048895">
                <a:moveTo>
                  <a:pt x="0" y="0"/>
                </a:moveTo>
                <a:lnTo>
                  <a:pt x="3048895" y="0"/>
                </a:lnTo>
                <a:lnTo>
                  <a:pt x="3048895" y="2839182"/>
                </a:lnTo>
                <a:lnTo>
                  <a:pt x="0" y="28391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761039">
            <a:off x="8022484" y="7968941"/>
            <a:ext cx="4628608" cy="902038"/>
          </a:xfrm>
          <a:custGeom>
            <a:avLst/>
            <a:gdLst/>
            <a:ahLst/>
            <a:cxnLst/>
            <a:rect r="r" b="b" t="t" l="l"/>
            <a:pathLst>
              <a:path h="902038" w="4628608">
                <a:moveTo>
                  <a:pt x="0" y="0"/>
                </a:moveTo>
                <a:lnTo>
                  <a:pt x="4628608" y="0"/>
                </a:lnTo>
                <a:lnTo>
                  <a:pt x="4628608" y="902038"/>
                </a:lnTo>
                <a:lnTo>
                  <a:pt x="0" y="9020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9512" t="-737922" r="-114493" b="-31151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932284">
            <a:off x="14963936" y="4565842"/>
            <a:ext cx="2502755" cy="1155315"/>
          </a:xfrm>
          <a:custGeom>
            <a:avLst/>
            <a:gdLst/>
            <a:ahLst/>
            <a:cxnLst/>
            <a:rect r="r" b="b" t="t" l="l"/>
            <a:pathLst>
              <a:path h="1155315" w="2502755">
                <a:moveTo>
                  <a:pt x="0" y="0"/>
                </a:moveTo>
                <a:lnTo>
                  <a:pt x="2502755" y="0"/>
                </a:lnTo>
                <a:lnTo>
                  <a:pt x="2502755" y="1155316"/>
                </a:lnTo>
                <a:lnTo>
                  <a:pt x="0" y="11553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1304" t="-714648" r="-331069" b="-16532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3871801">
            <a:off x="2513228" y="6795313"/>
            <a:ext cx="2455122" cy="1093458"/>
          </a:xfrm>
          <a:custGeom>
            <a:avLst/>
            <a:gdLst/>
            <a:ahLst/>
            <a:cxnLst/>
            <a:rect r="r" b="b" t="t" l="l"/>
            <a:pathLst>
              <a:path h="1093458" w="2455122">
                <a:moveTo>
                  <a:pt x="0" y="0"/>
                </a:moveTo>
                <a:lnTo>
                  <a:pt x="2455122" y="0"/>
                </a:lnTo>
                <a:lnTo>
                  <a:pt x="2455122" y="1093457"/>
                </a:lnTo>
                <a:lnTo>
                  <a:pt x="0" y="10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14864" t="-723758" r="-227216" b="-16883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19298" y="4037367"/>
            <a:ext cx="12782472" cy="191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5"/>
              </a:lnSpc>
            </a:pPr>
            <a:r>
              <a:rPr lang="en-US" b="true" sz="12465">
                <a:solidFill>
                  <a:srgbClr val="597EA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838309" y="535483"/>
            <a:ext cx="2669240" cy="2431235"/>
          </a:xfrm>
          <a:custGeom>
            <a:avLst/>
            <a:gdLst/>
            <a:ahLst/>
            <a:cxnLst/>
            <a:rect r="r" b="b" t="t" l="l"/>
            <a:pathLst>
              <a:path h="2431235" w="2669240">
                <a:moveTo>
                  <a:pt x="0" y="0"/>
                </a:moveTo>
                <a:lnTo>
                  <a:pt x="2669240" y="0"/>
                </a:lnTo>
                <a:lnTo>
                  <a:pt x="2669240" y="2431235"/>
                </a:lnTo>
                <a:lnTo>
                  <a:pt x="0" y="243123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-94513" b="-11355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DAGop7YWHSQ</dc:identifier>
  <dcterms:modified xsi:type="dcterms:W3CDTF">2011-08-01T06:04:30Z</dcterms:modified>
  <cp:revision>1</cp:revision>
  <dc:title>Group Project</dc:title>
</cp:coreProperties>
</file>